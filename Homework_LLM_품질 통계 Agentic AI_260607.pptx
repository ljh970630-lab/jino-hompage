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4" r:id="rId7"/>
    <p:sldId id="267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8BE99F-1CA4-49C9-955F-BB4159E684D6}" v="3" dt="2026-06-07T10:44:04.4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9" autoAdjust="0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657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4124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8368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50392" y="745236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0" dirty="0">
                <a:solidFill>
                  <a:srgbClr val="64748B"/>
                </a:solidFill>
                <a:latin typeface="Malgun Gothic"/>
              </a:rPr>
              <a:t>Agentic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800" b="1" dirty="0" err="1">
                <a:solidFill>
                  <a:srgbClr val="FFFF00"/>
                </a:solidFill>
                <a:latin typeface="Malgun Gothic"/>
              </a:rPr>
              <a:t>품질</a:t>
            </a:r>
            <a:r>
              <a:rPr sz="3800" b="1" dirty="0">
                <a:solidFill>
                  <a:srgbClr val="FFFF00"/>
                </a:solidFill>
                <a:latin typeface="Malgun Gothic"/>
              </a:rPr>
              <a:t> </a:t>
            </a:r>
            <a:r>
              <a:rPr lang="ko-KR" altLang="en-US" sz="3800" b="1" dirty="0">
                <a:solidFill>
                  <a:srgbClr val="FFFF00"/>
                </a:solidFill>
                <a:latin typeface="Malgun Gothic"/>
              </a:rPr>
              <a:t>통계 검정 </a:t>
            </a:r>
            <a:r>
              <a:rPr lang="en-US" altLang="ko-KR" sz="3800" b="1" dirty="0">
                <a:solidFill>
                  <a:srgbClr val="FFFF00"/>
                </a:solidFill>
                <a:latin typeface="Malgun Gothic"/>
              </a:rPr>
              <a:t>Agent </a:t>
            </a:r>
            <a:r>
              <a:rPr sz="3800" b="1" dirty="0">
                <a:solidFill>
                  <a:srgbClr val="FFFF00"/>
                </a:solidFill>
                <a:latin typeface="Malgun Gothic"/>
              </a:rPr>
              <a:t>AI</a:t>
            </a:r>
            <a:endParaRPr lang="en-US" sz="4400" dirty="0">
              <a:solidFill>
                <a:srgbClr val="FFFF0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001000" y="100584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111C33"/>
          </a:solidFill>
          <a:ln w="19050">
            <a:solidFill>
              <a:srgbClr val="1E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36676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Input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6676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Jig Data + Meter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720072" y="2176272"/>
            <a:ext cx="0" cy="566928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366760" y="2862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AI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66760" y="3227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Prediction + Control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720072" y="3639312"/>
            <a:ext cx="0" cy="566928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66760" y="4343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Issue / Action / Report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6355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2025220984_이진호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현장에서 생기는 문제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1524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29184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4447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상황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같은 샘플을 Jig와 계측기로 측정했는데 값이 다르게 나옴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123444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1524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32918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63440" y="14447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기존 판단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189280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평균 차이와 그래프만 보고 “문제 있는 것 같다” 수준으로 판단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83880" y="123444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  <a:effectLst>
            <a:outerShdw blurRad="1524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183880" y="1234440"/>
            <a:ext cx="329184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12480" y="14447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필요한 판단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189280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차이가 우연인지, 실제 유의한 차이인지 통계적으로 확인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0120" y="3977640"/>
            <a:ext cx="101498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11827"/>
                </a:solidFill>
              </a:rPr>
              <a:t>Agent</a:t>
            </a:r>
            <a:r>
              <a:rPr lang="ko-KR" altLang="en-US" sz="2300" b="1" dirty="0">
                <a:solidFill>
                  <a:srgbClr val="111827"/>
                </a:solidFill>
              </a:rPr>
              <a:t>는</a:t>
            </a:r>
            <a:r>
              <a:rPr lang="en-US" sz="2300" b="1" dirty="0">
                <a:solidFill>
                  <a:srgbClr val="111827"/>
                </a:solidFill>
              </a:rPr>
              <a:t> 측정 데이터를 입력받아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11827"/>
                </a:solidFill>
              </a:rPr>
              <a:t>“이슈 가능성”과 “조치 방법”을 한 번에 제시합니다.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1097280" y="5212080"/>
            <a:ext cx="9966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417320" y="553212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508760" y="560070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데이터 입력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5678424"/>
            <a:ext cx="91440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434840" y="553212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26280" y="560070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이슈 예측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5678424"/>
            <a:ext cx="91440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452360" y="553212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543800" y="560070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조치 추천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72600" y="5678424"/>
            <a:ext cx="91440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0469880" y="553212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0561320" y="56007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보고서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 dirty="0">
                <a:solidFill>
                  <a:srgbClr val="0F172A"/>
                </a:solidFill>
                <a:latin typeface="Malgun Gothic"/>
              </a:rPr>
              <a:t>Agent </a:t>
            </a:r>
            <a:r>
              <a:rPr sz="3200" b="1" dirty="0" err="1">
                <a:solidFill>
                  <a:srgbClr val="0F172A"/>
                </a:solidFill>
                <a:latin typeface="Malgun Gothic"/>
              </a:rPr>
              <a:t>작동</a:t>
            </a:r>
            <a:r>
              <a:rPr sz="3200" b="1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3200" b="1" dirty="0" err="1">
                <a:solidFill>
                  <a:srgbClr val="0F172A"/>
                </a:solidFill>
                <a:latin typeface="Malgun Gothic"/>
              </a:rPr>
              <a:t>방식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사용자는 </a:t>
            </a:r>
            <a:r>
              <a:rPr lang="en-US" sz="2400" b="1" dirty="0" err="1">
                <a:solidFill>
                  <a:srgbClr val="111827"/>
                </a:solidFill>
              </a:rPr>
              <a:t>데이터와</a:t>
            </a:r>
            <a:r>
              <a:rPr lang="en-US" sz="2400" b="1" dirty="0">
                <a:solidFill>
                  <a:srgbClr val="111827"/>
                </a:solidFill>
              </a:rPr>
              <a:t> </a:t>
            </a:r>
            <a:r>
              <a:rPr lang="en-US" sz="2400" b="1" dirty="0" err="1">
                <a:solidFill>
                  <a:srgbClr val="111827"/>
                </a:solidFill>
              </a:rPr>
              <a:t>질문</a:t>
            </a:r>
            <a:r>
              <a:rPr lang="en-US" sz="2400" b="1" dirty="0">
                <a:solidFill>
                  <a:srgbClr val="111827"/>
                </a:solidFill>
              </a:rPr>
              <a:t> </a:t>
            </a:r>
            <a:r>
              <a:rPr lang="en-US" sz="2400" b="1" dirty="0" err="1">
                <a:solidFill>
                  <a:srgbClr val="111827"/>
                </a:solidFill>
              </a:rPr>
              <a:t>입력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466344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질문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Jig 측정값과 계측기 측정값 차이가 있는지 확인하고,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필요한 조치를 알려줘.</a:t>
            </a:r>
            <a:endParaRPr lang="en-US" sz="1070" dirty="0"/>
          </a:p>
          <a:p>
            <a:pPr marL="0" indent="0">
              <a:buNone/>
            </a:pP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데이터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Jig   = [10.1, 10.3, 10.2, ...]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Meter = [10.4, 10.6, 10.5, ...]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6492240" y="1143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Agent가 </a:t>
            </a:r>
            <a:r>
              <a:rPr lang="en-US" sz="2400" b="1" dirty="0" err="1">
                <a:solidFill>
                  <a:srgbClr val="111827"/>
                </a:solidFill>
              </a:rPr>
              <a:t>자동으로</a:t>
            </a:r>
            <a:r>
              <a:rPr lang="en-US" sz="2400" b="1" dirty="0">
                <a:solidFill>
                  <a:srgbClr val="111827"/>
                </a:solidFill>
              </a:rPr>
              <a:t> </a:t>
            </a:r>
            <a:r>
              <a:rPr lang="en-US" sz="2400" b="1" dirty="0" err="1">
                <a:solidFill>
                  <a:srgbClr val="111827"/>
                </a:solidFill>
              </a:rPr>
              <a:t>수행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46520" y="173736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1524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46520" y="1737360"/>
            <a:ext cx="452628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675120" y="194767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1. 분석 선택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395728"/>
            <a:ext cx="406908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같은 샘플 비교 → 대응표본 t-test 선택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46520" y="288036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  <a:effectLst>
            <a:outerShdw blurRad="1524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446520" y="2880360"/>
            <a:ext cx="452628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75120" y="309067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2. 이슈 예측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3538728"/>
            <a:ext cx="406908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p-value 계산 → 유의한 차이 여부 판단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46520" y="4023360"/>
            <a:ext cx="4526280" cy="9144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1524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46520" y="4023360"/>
            <a:ext cx="45262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675120" y="423367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3. 조치 추천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4681728"/>
            <a:ext cx="406908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Jig 보정, 계측기 검교정, 재측정 제안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0584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최종 출력: 분석 결과 + 현장 조치 + 보고서 문장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rgbClr val="0F172A"/>
                </a:solidFill>
                <a:latin typeface="Malgun Gothic"/>
              </a:rPr>
              <a:t>1개 LLM + 2개 SLM 시스템 구조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760220" y="3200400"/>
            <a:ext cx="150876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914900" y="3200400"/>
            <a:ext cx="141732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978140" y="3200400"/>
            <a:ext cx="141732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45820" y="224028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  <a:effectLst>
            <a:outerShdw blurRad="1524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45820" y="2240280"/>
            <a:ext cx="1737360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74420" y="24505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User Input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4420" y="2898648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질문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측정 데이터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086100" y="2057400"/>
            <a:ext cx="2057400" cy="21945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1524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086100" y="2057400"/>
            <a:ext cx="20574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314700" y="2267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Main LLM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4700" y="2715768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질문 이해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작업 순서 결정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49340" y="2057400"/>
            <a:ext cx="2057400" cy="21945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  <a:effectLst>
            <a:outerShdw blurRad="1524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149340" y="2057400"/>
            <a:ext cx="20574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377940" y="2267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Prediction SLM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7940" y="2715768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LoRA Adapter 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이슈 예측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166860" y="2057400"/>
            <a:ext cx="2057400" cy="21945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1524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166860" y="2057400"/>
            <a:ext cx="20574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395460" y="2267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Control SLM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95460" y="2715768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LoRA Adapter B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조치 추천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33500" y="54025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00" b="0" dirty="0">
                <a:solidFill>
                  <a:srgbClr val="64748B"/>
                </a:solidFill>
                <a:latin typeface="Malgun Gothic"/>
              </a:rPr>
              <a:t>Main </a:t>
            </a:r>
            <a:r>
              <a:rPr sz="1600" b="0" dirty="0" err="1">
                <a:solidFill>
                  <a:srgbClr val="64748B"/>
                </a:solidFill>
                <a:latin typeface="Malgun Gothic"/>
              </a:rPr>
              <a:t>LLM은</a:t>
            </a:r>
            <a:r>
              <a:rPr sz="16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64748B"/>
                </a:solidFill>
                <a:latin typeface="Malgun Gothic"/>
              </a:rPr>
              <a:t>전체</a:t>
            </a:r>
            <a:r>
              <a:rPr sz="16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64748B"/>
                </a:solidFill>
                <a:latin typeface="Malgun Gothic"/>
              </a:rPr>
              <a:t>흐름을</a:t>
            </a:r>
            <a:r>
              <a:rPr sz="16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64748B"/>
                </a:solidFill>
                <a:latin typeface="Malgun Gothic"/>
              </a:rPr>
              <a:t>제어하고</a:t>
            </a:r>
            <a:r>
              <a:rPr sz="1600" b="0" dirty="0">
                <a:solidFill>
                  <a:srgbClr val="64748B"/>
                </a:solidFill>
                <a:latin typeface="Malgun Gothic"/>
              </a:rPr>
              <a:t>, 2개의 </a:t>
            </a:r>
            <a:r>
              <a:rPr sz="1600" b="0" dirty="0" err="1">
                <a:solidFill>
                  <a:srgbClr val="64748B"/>
                </a:solidFill>
                <a:latin typeface="Malgun Gothic"/>
              </a:rPr>
              <a:t>SLM은</a:t>
            </a:r>
            <a:r>
              <a:rPr sz="16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64748B"/>
                </a:solidFill>
                <a:latin typeface="Malgun Gothic"/>
              </a:rPr>
              <a:t>예측과</a:t>
            </a:r>
            <a:r>
              <a:rPr sz="16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64748B"/>
                </a:solidFill>
                <a:latin typeface="Malgun Gothic"/>
              </a:rPr>
              <a:t>조치</a:t>
            </a:r>
            <a:r>
              <a:rPr sz="16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64748B"/>
                </a:solidFill>
                <a:latin typeface="Malgun Gothic"/>
              </a:rPr>
              <a:t>추천을</a:t>
            </a:r>
            <a:r>
              <a:rPr sz="16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64748B"/>
                </a:solidFill>
                <a:latin typeface="Malgun Gothic"/>
              </a:rPr>
              <a:t>각각</a:t>
            </a:r>
            <a:r>
              <a:rPr sz="16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64748B"/>
                </a:solidFill>
                <a:latin typeface="Malgun Gothic"/>
              </a:rPr>
              <a:t>담당합니다</a:t>
            </a:r>
            <a:r>
              <a:rPr sz="1600" b="0" dirty="0">
                <a:solidFill>
                  <a:srgbClr val="64748B"/>
                </a:solidFill>
                <a:latin typeface="Malgun Gothic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데이터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62940" y="1589532"/>
            <a:ext cx="4137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</a:rPr>
              <a:t>같은 샘플 10개를 두 </a:t>
            </a:r>
            <a:r>
              <a:rPr lang="en-US" sz="2000" b="1" dirty="0" err="1">
                <a:solidFill>
                  <a:srgbClr val="111827"/>
                </a:solidFill>
              </a:rPr>
              <a:t>방식으로</a:t>
            </a:r>
            <a:r>
              <a:rPr lang="en-US" sz="2000" b="1" dirty="0">
                <a:solidFill>
                  <a:srgbClr val="111827"/>
                </a:solidFill>
              </a:rPr>
              <a:t> 측</a:t>
            </a:r>
            <a:r>
              <a:rPr lang="ko-KR" altLang="en-US" sz="2000" b="1" dirty="0">
                <a:solidFill>
                  <a:srgbClr val="111827"/>
                </a:solidFill>
              </a:rPr>
              <a:t>정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04672" y="2110740"/>
            <a:ext cx="1005840" cy="371475"/>
          </a:xfrm>
          <a:prstGeom prst="rect">
            <a:avLst/>
          </a:prstGeom>
          <a:solidFill>
            <a:srgbClr val="EA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218389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Sample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10512" y="2110740"/>
            <a:ext cx="1005840" cy="371475"/>
          </a:xfrm>
          <a:prstGeom prst="rect">
            <a:avLst/>
          </a:prstGeom>
          <a:solidFill>
            <a:srgbClr val="EA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28800" y="218389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Jig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16352" y="2110740"/>
            <a:ext cx="1005840" cy="371475"/>
          </a:xfrm>
          <a:prstGeom prst="rect">
            <a:avLst/>
          </a:prstGeom>
          <a:solidFill>
            <a:srgbClr val="EA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834640" y="218389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Meter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22192" y="2110740"/>
            <a:ext cx="1005840" cy="371475"/>
          </a:xfrm>
          <a:prstGeom prst="rect">
            <a:avLst/>
          </a:prstGeom>
          <a:solidFill>
            <a:srgbClr val="EA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0" y="218389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Diff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" y="248221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22960" y="255536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10512" y="248221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828800" y="255536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10.1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16352" y="248221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834640" y="255536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10.4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22192" y="248221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840480" y="255536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+0.3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" y="2853690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22960" y="292684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10512" y="2853690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828800" y="292684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10.3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816352" y="2853690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834640" y="292684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10.6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22192" y="2853690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840480" y="292684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+0.3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" y="322516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22960" y="329831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10512" y="322516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828800" y="329831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10.2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16352" y="322516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834640" y="329831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10.5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22192" y="322516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840480" y="329831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+0.3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4672" y="3596640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22960" y="366979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4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810512" y="3596640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828800" y="366979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10.5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816352" y="3596640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2834640" y="366979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10.8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822192" y="3596640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840480" y="366979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+0.3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04672" y="396811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822960" y="404126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5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810512" y="396811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828800" y="404126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10.4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816352" y="396811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2834640" y="404126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10.7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822192" y="396811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3840480" y="404126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+0.3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04672" y="4339590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822960" y="441274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…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810512" y="4339590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0" y="441274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…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816352" y="4339590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2834640" y="441274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…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822192" y="4339590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3840480" y="4412742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…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04672" y="471106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822960" y="478421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10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810512" y="471106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1828800" y="478421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10.4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816352" y="471106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2834640" y="478421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10.7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3822192" y="4711065"/>
            <a:ext cx="1005840" cy="37147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3840480" y="4784217"/>
            <a:ext cx="969264" cy="2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+0.3</a:t>
            </a:r>
            <a:endParaRPr lang="en-US" sz="1050" dirty="0"/>
          </a:p>
        </p:txBody>
      </p:sp>
      <p:pic>
        <p:nvPicPr>
          <p:cNvPr id="70" name="Image 0" descr="/mnt/data/qcopilot_demo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744980"/>
            <a:ext cx="608076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실행 결과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326880" y="65196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Q-Copilot Agent  |  08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  <a:effectLst>
            <a:outerShdw blurRad="1524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338328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05840" y="1444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Prediction Result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892808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분석 방법: 대응표본 t-test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Jig 평균: 10.35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Meter 평균: 10.65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평균 차이: +0.30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p-value: 0.000000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26280" y="1234440"/>
            <a:ext cx="32004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1524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26280" y="1234440"/>
            <a:ext cx="32004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5488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Issue Decision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1892808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p-value &lt; 0.05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두 측정 방식 사이에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통계적으로 유의한 차이가 있음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92440" y="1234440"/>
            <a:ext cx="33375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1524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92440" y="1234440"/>
            <a:ext cx="33375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21040" y="14447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Recommended Actions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1892808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1. Jig 보정 상태 확인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2. 계측기 검교정 이력 확인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3. 동일 샘플 재측정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4. 측정 기준 표준화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</a:rPr>
              <a:t>최종 결론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68680" y="5257800"/>
            <a:ext cx="10378440" cy="86868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74420" y="55595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Jig와 계측기의 측정값 차이가 반복적으로 발생하므로, 측정 시스템 점검과 재측정이 필요합니다.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16636"/>
            <a:ext cx="106984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000" b="1">
                <a:solidFill>
                  <a:srgbClr val="163056"/>
                </a:solidFill>
                <a:latin typeface="Malgun Gothic"/>
              </a:rPr>
              <a:t>기존 방식 대비 기대효과와 편리성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01268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A626E"/>
                </a:solidFill>
                <a:latin typeface="Malgun Gothic"/>
              </a:rPr>
              <a:t>데이터 입력부터 이슈 판단, 조치 추천, 보고서 정리까지 한 번에 수행하는 품질 분석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85900"/>
            <a:ext cx="4709160" cy="3154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1714499"/>
            <a:ext cx="1691640" cy="411480"/>
          </a:xfrm>
          <a:prstGeom prst="roundRect">
            <a:avLst/>
          </a:prstGeom>
          <a:solidFill>
            <a:srgbClr val="E7813F"/>
          </a:solidFill>
          <a:ln w="12700">
            <a:solidFill>
              <a:srgbClr val="E78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기존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63140"/>
            <a:ext cx="3977639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82D37"/>
                </a:solidFill>
                <a:latin typeface="Malgun Gothic"/>
              </a:rPr>
              <a:t>① 평균·그래프 중심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10028"/>
            <a:ext cx="40690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A626E"/>
                </a:solidFill>
                <a:latin typeface="Malgun Gothic"/>
              </a:rPr>
              <a:t>차이가 있어 보여도 통계적 의미 판단이 어려움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94660"/>
            <a:ext cx="3977639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82D37"/>
                </a:solidFill>
                <a:latin typeface="Malgun Gothic"/>
              </a:rPr>
              <a:t>② 분석 방법 수동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41548"/>
            <a:ext cx="40690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A626E"/>
                </a:solidFill>
                <a:latin typeface="Malgun Gothic"/>
              </a:rPr>
              <a:t>t-test 종류, p-value 해석을 사용자가 직접 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26180"/>
            <a:ext cx="3977639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82D37"/>
                </a:solidFill>
                <a:latin typeface="Malgun Gothic"/>
              </a:rPr>
              <a:t>③ 조치 내용 별도 정리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73067"/>
            <a:ext cx="40690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A626E"/>
                </a:solidFill>
                <a:latin typeface="Malgun Gothic"/>
              </a:rPr>
              <a:t>분석 후 점검 항목과 보고서 작성이 따로 필요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1485900"/>
            <a:ext cx="5257800" cy="315468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BED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70448" y="1714499"/>
            <a:ext cx="2057400" cy="411480"/>
          </a:xfrm>
          <a:prstGeom prst="roundRect">
            <a:avLst/>
          </a:prstGeom>
          <a:solidFill>
            <a:srgbClr val="2A6FC4"/>
          </a:solidFill>
          <a:ln w="12700">
            <a:solidFill>
              <a:srgbClr val="2A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Q-Copilot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2263140"/>
            <a:ext cx="43434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82D37"/>
                </a:solidFill>
                <a:latin typeface="Malgun Gothic"/>
              </a:rPr>
              <a:t>① 자동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2510028"/>
            <a:ext cx="45262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A626E"/>
                </a:solidFill>
                <a:latin typeface="Malgun Gothic"/>
              </a:rPr>
              <a:t>대응표본 t-test 선택 및 p-value 계산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994660"/>
            <a:ext cx="43434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82D37"/>
                </a:solidFill>
                <a:latin typeface="Malgun Gothic"/>
              </a:rPr>
              <a:t>② 자동 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3241548"/>
            <a:ext cx="45262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A626E"/>
                </a:solidFill>
                <a:latin typeface="Malgun Gothic"/>
              </a:rPr>
              <a:t>품질 이슈 가능성 있음/낮음으로 결과 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3726180"/>
            <a:ext cx="43434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82D37"/>
                </a:solidFill>
                <a:latin typeface="Malgun Gothic"/>
              </a:rPr>
              <a:t>③ 자동 조치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3973067"/>
            <a:ext cx="45262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A626E"/>
                </a:solidFill>
                <a:latin typeface="Malgun Gothic"/>
              </a:rPr>
              <a:t>Jig 보정, 계측기 검교정, 재측정 등 현장 조치 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2811780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800" b="1">
                <a:solidFill>
                  <a:srgbClr val="2A6FC4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914900"/>
            <a:ext cx="10195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25212"/>
            <a:ext cx="21945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056"/>
                </a:solidFill>
                <a:latin typeface="Malgun Gothic"/>
              </a:rPr>
              <a:t>기대효과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436108"/>
            <a:ext cx="2240280" cy="475488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5472684"/>
            <a:ext cx="20116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2A6FC4"/>
                </a:solidFill>
                <a:latin typeface="Malgun Gothic"/>
              </a:rPr>
              <a:t>분석 시간 단축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655564"/>
            <a:ext cx="20116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0">
                <a:solidFill>
                  <a:srgbClr val="5A626E"/>
                </a:solidFill>
                <a:latin typeface="Malgun Gothic"/>
              </a:rPr>
              <a:t>데이터 입력 후 즉시 결과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0128" y="5436108"/>
            <a:ext cx="2240280" cy="475488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19856" y="5472684"/>
            <a:ext cx="20116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2A6FC4"/>
                </a:solidFill>
                <a:latin typeface="Malgun Gothic"/>
              </a:rPr>
              <a:t>판단 오류 감소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9856" y="5655564"/>
            <a:ext cx="20116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0">
                <a:solidFill>
                  <a:srgbClr val="5A626E"/>
                </a:solidFill>
                <a:latin typeface="Malgun Gothic"/>
              </a:rPr>
              <a:t>통계 기반으로 유의성 판단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05856" y="5436108"/>
            <a:ext cx="2240280" cy="475488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15584" y="5472684"/>
            <a:ext cx="20116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2A6FC4"/>
                </a:solidFill>
                <a:latin typeface="Malgun Gothic"/>
              </a:rPr>
              <a:t>업무 표준화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5584" y="5655564"/>
            <a:ext cx="20116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0">
                <a:solidFill>
                  <a:srgbClr val="5A626E"/>
                </a:solidFill>
                <a:latin typeface="Malgun Gothic"/>
              </a:rPr>
              <a:t>동일 기준으로 조치 추천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1583" y="5436108"/>
            <a:ext cx="2240280" cy="475488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1311" y="5472684"/>
            <a:ext cx="20116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2A6FC4"/>
                </a:solidFill>
                <a:latin typeface="Malgun Gothic"/>
              </a:rPr>
              <a:t>보고 편의성 향상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5655564"/>
            <a:ext cx="20116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0">
                <a:solidFill>
                  <a:srgbClr val="5A626E"/>
                </a:solidFill>
                <a:latin typeface="Malgun Gothic"/>
              </a:rPr>
              <a:t>최종 보고서 형태로 정리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500</Words>
  <Application>Microsoft Office PowerPoint</Application>
  <PresentationFormat>와이드스크린</PresentationFormat>
  <Paragraphs>139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Q-Copilot Agent</dc:title>
  <dc:subject>Q-Copilot Agentic AI</dc:subject>
  <dc:creator>Jinho Lee</dc:creator>
  <cp:lastModifiedBy>진호 이</cp:lastModifiedBy>
  <cp:revision>3</cp:revision>
  <dcterms:created xsi:type="dcterms:W3CDTF">2026-06-07T09:45:58Z</dcterms:created>
  <dcterms:modified xsi:type="dcterms:W3CDTF">2026-06-07T10:47:42Z</dcterms:modified>
</cp:coreProperties>
</file>